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3291840"/>
            <a:ext cx="8229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eiryo"/>
              </a:rPr>
              <a:t>MR FTE算出システム
ロジック説明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29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8CEF9"/>
                </a:solidFill>
                <a:latin typeface="Meiryo"/>
              </a:rPr>
              <a:t>FY2026-2035  リソースアロケーション シミュレーション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760720"/>
            <a:ext cx="5943600" cy="548640"/>
          </a:xfrm>
          <a:prstGeom prst="rect">
            <a:avLst/>
          </a:prstGeom>
          <a:solidFill>
            <a:srgbClr val="0F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59E0B"/>
                </a:solidFill>
                <a:latin typeface="Meiryo"/>
              </a:rPr>
              <a:t>  CS: 380 FTE / PS: 45 FTE  制約下の最適配分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500" b="1">
                <a:solidFill>
                  <a:srgbClr val="FFFFFF"/>
                </a:solidFill>
                <a:latin typeface="Meiryo"/>
              </a:rPr>
              <a:t>  MR FTE算出システム  ロジック説明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2A4A"/>
                </a:solidFill>
                <a:latin typeface="Meiryo"/>
              </a:rPr>
              <a:t>算出ステップ 全体フロー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-18288" y="1508760"/>
            <a:ext cx="1417320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STEP 1
</a:t>
            </a:r>
            <a:r>
              <a:rPr sz="1100" b="1">
                <a:solidFill>
                  <a:srgbClr val="FFFFFF"/>
                </a:solidFill>
                <a:latin typeface="Meiryo"/>
              </a:rPr>
              <a:t>ターゲット医師数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18288" y="233172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293B"/>
                </a:solidFill>
                <a:latin typeface="Meiryo"/>
              </a:rPr>
              <a:t>R/W ティア CSV 直接管理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1508760" y="1819656"/>
            <a:ext cx="164592" cy="914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83080" y="1508760"/>
            <a:ext cx="1417320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STEP 2
</a:t>
            </a:r>
            <a:r>
              <a:rPr sz="1100" b="1">
                <a:solidFill>
                  <a:srgbClr val="FFFFFF"/>
                </a:solidFill>
                <a:latin typeface="Meiryo"/>
              </a:rPr>
              <a:t>FC/SC 分割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33172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293B"/>
                </a:solidFill>
                <a:latin typeface="Meiryo"/>
              </a:rPr>
              <a:t>品目重複・品目セット考慮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819656"/>
            <a:ext cx="164592" cy="914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84448" y="1508760"/>
            <a:ext cx="1417320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STEP 3
</a:t>
            </a:r>
            <a:r>
              <a:rPr sz="1100" b="1">
                <a:solidFill>
                  <a:srgbClr val="FFFFFF"/>
                </a:solidFill>
                <a:latin typeface="Meiryo"/>
              </a:rPr>
              <a:t>訪問頻度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233172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293B"/>
                </a:solidFill>
                <a:latin typeface="Meiryo"/>
              </a:rPr>
              <a:t>ライフサイクル調整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11496" y="1819656"/>
            <a:ext cx="164592" cy="914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85816" y="1508760"/>
            <a:ext cx="1417320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STEP 4
</a:t>
            </a:r>
            <a:r>
              <a:rPr sz="1100" b="1">
                <a:solidFill>
                  <a:srgbClr val="FFFFFF"/>
                </a:solidFill>
                <a:latin typeface="Meiryo"/>
              </a:rPr>
              <a:t>FTE算出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85816" y="233172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293B"/>
                </a:solidFill>
                <a:latin typeface="Meiryo"/>
              </a:rPr>
              <a:t>required_calls ÷ 月次キャパシティ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12864" y="1819656"/>
            <a:ext cx="164592" cy="914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87184" y="1508760"/>
            <a:ext cx="1417320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STEP 5
</a:t>
            </a:r>
            <a:r>
              <a:rPr sz="1100" b="1">
                <a:solidFill>
                  <a:srgbClr val="FFFFFF"/>
                </a:solidFill>
                <a:latin typeface="Meiryo"/>
              </a:rPr>
              <a:t>HC 正規化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7184" y="233172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293B"/>
                </a:solidFill>
                <a:latin typeface="Meiryo"/>
              </a:rPr>
              <a:t>エリア×月の制約 (380/45)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14232" y="1819656"/>
            <a:ext cx="164592" cy="914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88552" y="1508760"/>
            <a:ext cx="1417320" cy="7132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STEP 6
</a:t>
            </a:r>
            <a:r>
              <a:rPr sz="1100" b="1">
                <a:solidFill>
                  <a:srgbClr val="FFFFFF"/>
                </a:solidFill>
                <a:latin typeface="Meiryo"/>
              </a:rPr>
              <a:t>限界 ROI 配分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33172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293B"/>
                </a:solidFill>
                <a:latin typeface="Meiryo"/>
              </a:rPr>
              <a:t>新製品への最適 FTE 配分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0" y="1819656"/>
            <a:ext cx="164592" cy="914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0" y="1508760"/>
            <a:ext cx="1417320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eiryo"/>
              </a:rPr>
              <a:t>別軸
</a:t>
            </a:r>
            <a:r>
              <a:rPr sz="1100" b="1">
                <a:solidFill>
                  <a:srgbClr val="FFFFFF"/>
                </a:solidFill>
                <a:latin typeface="Meiryo"/>
              </a:rPr>
              <a:t>デジタル有効性スコア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233172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293B"/>
                </a:solidFill>
                <a:latin typeface="Meiryo"/>
              </a:rPr>
              <a:t>0–1 スコアでチャネル戦略示唆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61904" y="1371600"/>
            <a:ext cx="36576" cy="9875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246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eiryo"/>
              </a:rPr>
              <a:t>※ 別軸のデジタル有効性スコアは MR FTE とは独立して算出。FTE コスト計上なし。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500" b="1">
                <a:solidFill>
                  <a:srgbClr val="FFFFFF"/>
                </a:solidFill>
                <a:latin typeface="Meiryo"/>
              </a:rPr>
              <a:t>  MR FTE算出システム  ロジック説明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2A4A"/>
                </a:solidFill>
                <a:latin typeface="Meiryo"/>
              </a:rPr>
              <a:t>STEP 1: ターゲット医師数の決定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3108960" cy="1005840"/>
          </a:xfrm>
          <a:prstGeom prst="rect">
            <a:avLst/>
          </a:prstGeom>
          <a:solidFill>
            <a:srgbClr val="DB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310896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310896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R 医師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eiryo"/>
              </a:rPr>
              <a:t>患者数かなり多め
訪問頻度  2.0 回/月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1234440"/>
            <a:ext cx="3108960" cy="100584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86200" y="1234440"/>
            <a:ext cx="310896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86200" y="1234440"/>
            <a:ext cx="310896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W 医師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40" y="15544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eiryo"/>
              </a:rPr>
              <a:t>患者数多め
訪問頻度  1.0 回/月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234440"/>
            <a:ext cx="4572000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target_drs(p) =
r_doctors(p)  +  w_doctors(p)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23160"/>
            <a:ext cx="11247120" cy="502920"/>
          </a:xfrm>
          <a:prstGeom prst="rect">
            <a:avLst/>
          </a:prstGeom>
          <a:solidFill>
            <a:srgbClr val="FF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>
                <a:solidFill>
                  <a:srgbClr val="924000"/>
                </a:solidFill>
                <a:latin typeface="Meiryo"/>
              </a:rPr>
              <a:t>  年度別変化は target_doctor_yearly.csv で指定（新製品ランプアップ・LOE 後縮小）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63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A4A"/>
                </a:solidFill>
                <a:latin typeface="Meiryo"/>
              </a:rPr>
              <a:t>【例】FY2026/4 基準値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01568"/>
            <a:ext cx="1371600" cy="347472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品目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3401568"/>
            <a:ext cx="1097280" cy="347472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R 医師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3401568"/>
            <a:ext cx="1097280" cy="347472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W 医師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3401568"/>
            <a:ext cx="1097280" cy="347472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合計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49039"/>
            <a:ext cx="1371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>
                <a:solidFill>
                  <a:srgbClr val="1E293B"/>
                </a:solidFill>
                <a:latin typeface="Meiryo"/>
              </a:rPr>
              <a:t>  GLI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3749039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1E293B"/>
                </a:solidFill>
                <a:latin typeface="Meiryo"/>
              </a:rPr>
              <a:t>1,200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3749039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1E293B"/>
                </a:solidFill>
                <a:latin typeface="Meiryo"/>
              </a:rPr>
              <a:t>3,000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3749039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1E293B"/>
                </a:solidFill>
                <a:latin typeface="Meiryo"/>
              </a:rPr>
              <a:t>4,200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96512"/>
            <a:ext cx="137160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>
                <a:solidFill>
                  <a:srgbClr val="1E293B"/>
                </a:solidFill>
                <a:latin typeface="Meiryo"/>
              </a:rPr>
              <a:t>  OVE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4096512"/>
            <a:ext cx="109728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1E293B"/>
                </a:solidFill>
                <a:latin typeface="Meiryo"/>
              </a:rPr>
              <a:t>  280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4096512"/>
            <a:ext cx="109728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1E293B"/>
                </a:solidFill>
                <a:latin typeface="Meiryo"/>
              </a:rPr>
              <a:t>  820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0" y="4096512"/>
            <a:ext cx="109728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1E293B"/>
                </a:solidFill>
                <a:latin typeface="Meiryo"/>
              </a:rPr>
              <a:t>1,100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443984"/>
            <a:ext cx="1371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>
                <a:solidFill>
                  <a:srgbClr val="1E293B"/>
                </a:solidFill>
                <a:latin typeface="Meiryo"/>
              </a:rPr>
              <a:t>  LVM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4443984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1E293B"/>
                </a:solidFill>
                <a:latin typeface="Meiryo"/>
              </a:rPr>
              <a:t>  200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0" y="4443984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1E293B"/>
                </a:solidFill>
                <a:latin typeface="Meiryo"/>
              </a:rPr>
              <a:t>  600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4443984"/>
            <a:ext cx="1097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1E293B"/>
                </a:solidFill>
                <a:latin typeface="Meiryo"/>
              </a:rPr>
              <a:t>  800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500" b="1">
                <a:solidFill>
                  <a:srgbClr val="FFFFFF"/>
                </a:solidFill>
                <a:latin typeface="Meiryo"/>
              </a:rPr>
              <a:t>  MR FTE算出システム  ロジック説明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2A4A"/>
                </a:solidFill>
                <a:latin typeface="Meiryo"/>
              </a:rPr>
              <a:t>STEP 2-3: FC/SC 分割と訪問頻度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949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26480" y="1188720"/>
            <a:ext cx="53949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9496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FC / SC 分割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188720"/>
            <a:ext cx="539496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訪問頻度の決定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64008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691640"/>
            <a:ext cx="5047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Meiryo"/>
              </a:rPr>
              <a:t>FC ドクター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011680"/>
            <a:ext cx="5047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eiryo"/>
              </a:rPr>
              <a:t>自品目メイン訪問 → フルコスト計上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08960"/>
            <a:ext cx="64008" cy="8229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3108960"/>
            <a:ext cx="5047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Meiryo"/>
              </a:rPr>
              <a:t>SC ドクター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429000"/>
            <a:ext cx="5047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eiryo"/>
              </a:rPr>
              <a:t>他品目メインのついで訪問
→ × SC 係数 (0.1)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26280"/>
            <a:ext cx="64008" cy="82296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4526280"/>
            <a:ext cx="5047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A4A"/>
                </a:solidFill>
                <a:latin typeface="Meiryo"/>
              </a:rPr>
              <a:t>品目セット判定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846320"/>
            <a:ext cx="5047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eiryo"/>
              </a:rPr>
              <a:t>activity_set.csv で重複チェック
被り品目は SC 扱いに自動振替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91640"/>
            <a:ext cx="64008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1691640"/>
            <a:ext cx="5047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Meiryo"/>
              </a:rPr>
              <a:t>実効頻度の算式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011680"/>
            <a:ext cx="5047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eiryo"/>
              </a:rPr>
              <a:t>実効頻度 = tier_freq × lifecycle_adj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108960"/>
            <a:ext cx="64008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3108960"/>
            <a:ext cx="5047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Meiryo"/>
              </a:rPr>
              <a:t>LOE 後 小分子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429000"/>
            <a:ext cx="5047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eiryo"/>
              </a:rPr>
              <a:t>lifecycle_adj = 0.0
（活動終了・FTE ゼロ化）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526280"/>
            <a:ext cx="64008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4526280"/>
            <a:ext cx="5047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Meiryo"/>
              </a:rPr>
              <a:t>LOE 後 バイオ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4846320"/>
            <a:ext cx="5047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eiryo"/>
              </a:rPr>
              <a:t>lifecycle_adj = 0.55
（バイオシミラー対策で継続活動）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500" b="1">
                <a:solidFill>
                  <a:srgbClr val="FFFFFF"/>
                </a:solidFill>
                <a:latin typeface="Meiryo"/>
              </a:rPr>
              <a:t>  MR FTE算出システム  ロジック説明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2A4A"/>
                </a:solidFill>
                <a:latin typeface="Meiryo"/>
              </a:rPr>
              <a:t>STEP 4: 必要 FTE 算出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192024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0B981"/>
                </a:solidFill>
                <a:latin typeface="Meiryo"/>
              </a:rPr>
              <a:t>  required_calls  =  R医師 × r_freq × lc_adj  +  W医師 × w_freq × lc_adj</a:t>
            </a:r>
          </a:p>
          <a:p>
            <a:pPr algn="l"/>
            <a:r>
              <a:rPr sz="1400" b="1">
                <a:solidFill>
                  <a:srgbClr val="B8CEF9"/>
                </a:solidFill>
                <a:latin typeface="Meiryo"/>
              </a:rPr>
              <a:t>  base_fte            =  required_calls  ÷  (calls_per_day × working_days/month)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46120"/>
            <a:ext cx="347472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CS キャパシティ
</a:t>
            </a:r>
            <a:r>
              <a:rPr sz="1300" b="1">
                <a:solidFill>
                  <a:srgbClr val="FFFFFF"/>
                </a:solidFill>
                <a:latin typeface="Meiryo"/>
              </a:rPr>
              <a:t>2.5 calls/day × 20 days
= 50 calls/month/FTE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3246120"/>
            <a:ext cx="347472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PS キャパシティ
</a:t>
            </a:r>
            <a:r>
              <a:rPr sz="1300" b="1">
                <a:solidFill>
                  <a:srgbClr val="FFFFFF"/>
                </a:solidFill>
                <a:latin typeface="Meiryo"/>
              </a:rPr>
              <a:t>1.5 calls/day × 20 days
= 30 calls/month/FTE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434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eiryo"/>
              </a:rPr>
              <a:t>× ブーストファクター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828032"/>
            <a:ext cx="10972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7548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eiryo"/>
              </a:rPr>
              <a:t>効能追加ブースト : +30% を最大 12 ヶ月間適用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212080"/>
            <a:ext cx="10972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13892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eiryo"/>
              </a:rPr>
              <a:t>競合品ブースト   : 競合発売直後に活動強化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596128"/>
            <a:ext cx="10972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5229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eiryo"/>
              </a:rPr>
              <a:t>供給制限ファクター : 供給不足時は FTE を削減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500" b="1">
                <a:solidFill>
                  <a:srgbClr val="FFFFFF"/>
                </a:solidFill>
                <a:latin typeface="Meiryo"/>
              </a:rPr>
              <a:t>  MR FTE算出システム  ロジック説明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2A4A"/>
                </a:solidFill>
                <a:latin typeface="Meiryo"/>
              </a:rPr>
              <a:t>STEP 5-6: HC 正規化と新製品 FTE 配分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949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9496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STEP 5  HC 正規化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Meiryo"/>
              </a:rPr>
              <a:t>• エリア総 FTE を制約値に正規化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6712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eiryo"/>
              </a:rPr>
              <a:t>  CS:  Σ required_fte  →  380 FTE に正規化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4261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eiryo"/>
              </a:rPr>
              <a:t>  PS:  Σ required_fte  →   45 FTE に正規化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200400"/>
            <a:ext cx="5120640" cy="77724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0B981"/>
                </a:solidFill>
                <a:latin typeface="Meiryo"/>
              </a:rPr>
              <a:t>adjusted_fte(p) =
required_fte(p) × (constraint / Σ required_fte)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53949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188720"/>
            <a:ext cx="539496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</a:rPr>
              <a:t>STEP 6  限界 ROI 最適配分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91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eiryo"/>
              </a:rPr>
              <a:t>• 新製品 FTE をドナー品目から最適配分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16712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eiryo"/>
              </a:rPr>
              <a:t>• Hill 関数でレスポンスカーブを近似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4261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eiryo"/>
              </a:rPr>
              <a:t>• dSales/dFTE が等しくなるまで最適化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11810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eiryo"/>
              </a:rPr>
              <a:t>• ドナー: FY2026/4 基準 FTE の 50% まで削減可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657600"/>
            <a:ext cx="5120640" cy="9144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59E0B"/>
                </a:solidFill>
                <a:latin typeface="Meiryo"/>
              </a:rPr>
              <a:t>sales_lift =
k × FTEⁿ / (EC50ⁿ + FTEⁿ)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500" b="1">
                <a:solidFill>
                  <a:srgbClr val="FFFFFF"/>
                </a:solidFill>
                <a:latin typeface="Meiryo"/>
              </a:rPr>
              <a:t>  MR FTE算出システム  ロジック説明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2A4A"/>
                </a:solidFill>
                <a:latin typeface="Meiryo"/>
              </a:rPr>
              <a:t>デジタル有効性スコア（MR FTE とは独立）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5029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924000"/>
                </a:solidFill>
                <a:latin typeface="Meiryo"/>
              </a:rPr>
              <a:t>  デジタルは FTE コストなし（m3 等への掲載）→ MR FTE と完全分離して算出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1247120" cy="6858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0B981"/>
                </a:solidFill>
                <a:latin typeface="Meiryo"/>
              </a:rPr>
              <a:t>score = 0.5 × MMM_digital_fraction  +  0.5 × digital_soc_rate  +  lifecycle_adj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9748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A4A"/>
                </a:solidFill>
                <a:latin typeface="Meiryo"/>
              </a:rPr>
              <a:t>スコアに基づくチャネル戦略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108960"/>
            <a:ext cx="1463040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高 (≥ 0.55)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3108960"/>
            <a:ext cx="4389120" cy="43891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>
                <a:solidFill>
                  <a:srgbClr val="1E293B"/>
                </a:solidFill>
                <a:latin typeface="Meiryo"/>
              </a:rPr>
              <a:t>  デジタルチャネルを積極活用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75888"/>
            <a:ext cx="1463040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中 (≥ 0.35)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3675888"/>
            <a:ext cx="4389120" cy="438912"/>
          </a:xfrm>
          <a:prstGeom prst="rect">
            <a:avLst/>
          </a:prstGeom>
          <a:solidFill>
            <a:srgbClr val="DB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>
                <a:solidFill>
                  <a:srgbClr val="1E293B"/>
                </a:solidFill>
                <a:latin typeface="Meiryo"/>
              </a:rPr>
              <a:t>  MR とデジタルのバランス戦略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42816"/>
            <a:ext cx="1463040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低 (&lt; 0.35)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4242816"/>
            <a:ext cx="4389120" cy="438912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>
                <a:solidFill>
                  <a:srgbClr val="1E293B"/>
                </a:solidFill>
                <a:latin typeface="Meiryo"/>
              </a:rPr>
              <a:t>  MR 中心戦略を推奨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6974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A4A"/>
                </a:solidFill>
                <a:latin typeface="Meiryo"/>
              </a:rPr>
              <a:t>ライフサイクル調整（lifecycle_adj）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3182112"/>
            <a:ext cx="9144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3108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eiryo"/>
              </a:rPr>
              <a:t>LOE 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41071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eiryo"/>
              </a:rPr>
              <a:t>− 0.25  デジタル費用対効果低下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3822192"/>
            <a:ext cx="9144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3749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Meiryo"/>
              </a:rPr>
              <a:t>成長期 1-3年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05079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eiryo"/>
              </a:rPr>
              <a:t>+ 0.08  新薬認知向上に有効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500" b="1">
                <a:solidFill>
                  <a:srgbClr val="FFFFFF"/>
                </a:solidFill>
                <a:latin typeface="Meiryo"/>
              </a:rPr>
              <a:t>  MR FTE算出システム  ロジック説明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2A4A"/>
                </a:solidFill>
                <a:latin typeface="Meiryo"/>
              </a:rPr>
              <a:t>主要入力データファイル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3474720" cy="4572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ファイル名</a:t>
            </a:r>
          </a:p>
        </p:txBody>
      </p:sp>
      <p:sp>
        <p:nvSpPr>
          <p:cNvPr id="5" name="Rectangle 4"/>
          <p:cNvSpPr/>
          <p:nvPr/>
        </p:nvSpPr>
        <p:spPr>
          <a:xfrm>
            <a:off x="3886200" y="1234440"/>
            <a:ext cx="5120640" cy="4572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9006840" y="1234440"/>
            <a:ext cx="2560320" cy="4572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更新頻度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91640"/>
            <a:ext cx="3474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2563EB"/>
                </a:solidFill>
                <a:latin typeface="Meiryo"/>
              </a:rPr>
              <a:t>  target_doctors.csv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1691640"/>
            <a:ext cx="51206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eiryo"/>
              </a:rPr>
              <a:t>  R/W 医師数・訪問頻度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9006840" y="169164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eiryo"/>
              </a:rPr>
              <a:t>  定期見直し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148840"/>
            <a:ext cx="34747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2563EB"/>
                </a:solidFill>
                <a:latin typeface="Meiryo"/>
              </a:rPr>
              <a:t>  target_doctor_yearly.csv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6200" y="2148840"/>
            <a:ext cx="512064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eiryo"/>
              </a:rPr>
              <a:t>  年度別医師数推移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6840" y="2148840"/>
            <a:ext cx="25603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eiryo"/>
              </a:rPr>
              <a:t>  定期見直し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606040"/>
            <a:ext cx="3474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2563EB"/>
                </a:solidFill>
                <a:latin typeface="Meiryo"/>
              </a:rPr>
              <a:t>  products.csv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2606040"/>
            <a:ext cx="51206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eiryo"/>
              </a:rPr>
              <a:t>  品目設定（発売日・LOE 等）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260604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eiryo"/>
              </a:rPr>
              <a:t>  変更時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063240"/>
            <a:ext cx="34747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2563EB"/>
                </a:solidFill>
                <a:latin typeface="Meiryo"/>
              </a:rPr>
              <a:t>  mmm_decay_params.csv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86200" y="3063240"/>
            <a:ext cx="512064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eiryo"/>
              </a:rPr>
              <a:t>  MMM パラメータ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3063240"/>
            <a:ext cx="25603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eiryo"/>
              </a:rPr>
              <a:t>  年次更新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520440"/>
            <a:ext cx="3474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2563EB"/>
                </a:solidFill>
                <a:latin typeface="Meiryo"/>
              </a:rPr>
              <a:t>  soc_params.csv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86200" y="3520440"/>
            <a:ext cx="51206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eiryo"/>
              </a:rPr>
              <a:t>  SOC 想起率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352044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eiryo"/>
              </a:rPr>
              <a:t>  年次更新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977640"/>
            <a:ext cx="34747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2563EB"/>
                </a:solidFill>
                <a:latin typeface="Meiryo"/>
              </a:rPr>
              <a:t>  current_fte.csv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3977640"/>
            <a:ext cx="512064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eiryo"/>
              </a:rPr>
              <a:t>  FY2026/4 基準 FTE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3977640"/>
            <a:ext cx="25603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eiryo"/>
              </a:rPr>
              <a:t>  期初確認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434840"/>
            <a:ext cx="3474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2563EB"/>
                </a:solidFill>
                <a:latin typeface="Meiryo"/>
              </a:rPr>
              <a:t>  sales_forecast.csv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86200" y="4434840"/>
            <a:ext cx="51206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eiryo"/>
              </a:rPr>
              <a:t>  売上予測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443484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eiryo"/>
              </a:rPr>
              <a:t>  四半期更新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892040"/>
            <a:ext cx="34747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2563EB"/>
                </a:solidFill>
                <a:latin typeface="Meiryo"/>
              </a:rPr>
              <a:t>  competitor_schedule.csv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86200" y="4892040"/>
            <a:ext cx="512064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eiryo"/>
              </a:rPr>
              <a:t>  競合品発売予定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06840" y="4892040"/>
            <a:ext cx="25603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0">
                <a:solidFill>
                  <a:srgbClr val="1E293B"/>
                </a:solidFill>
                <a:latin typeface="Meiryo"/>
              </a:rPr>
              <a:t>  随時更新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F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188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eiryo"/>
              </a:rPr>
              <a:t>  シミュレーション出力サマリー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3566160" cy="1097280"/>
          </a:xfrm>
          <a:prstGeom prst="rect">
            <a:avLst/>
          </a:prstGeom>
          <a:solidFill>
            <a:srgbClr val="0F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0080"/>
            <a:ext cx="137160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8580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Meiryo"/>
              </a:rPr>
              <a:t>19 品目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eiryo"/>
              </a:rPr>
              <a:t>FY2026-2035 対象品目数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640080"/>
            <a:ext cx="3566160" cy="1097280"/>
          </a:xfrm>
          <a:prstGeom prst="rect">
            <a:avLst/>
          </a:prstGeom>
          <a:solidFill>
            <a:srgbClr val="0F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0520" y="640080"/>
            <a:ext cx="13716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68580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Meiryo"/>
              </a:rPr>
              <a:t>10 年間 / 120 ヶ月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2344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eiryo"/>
              </a:rPr>
              <a:t>シミュレーション期間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640080"/>
            <a:ext cx="3566160" cy="1097280"/>
          </a:xfrm>
          <a:prstGeom prst="rect">
            <a:avLst/>
          </a:prstGeom>
          <a:solidFill>
            <a:srgbClr val="0F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640080"/>
            <a:ext cx="13716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68580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9E0B"/>
                </a:solidFill>
                <a:latin typeface="Meiryo"/>
              </a:rPr>
              <a:t>CS 380 / PS 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2344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eiryo"/>
              </a:rPr>
              <a:t>制約 FTE (最適配分)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920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eiryo"/>
              </a:rPr>
              <a:t>主要 HTML 出力ファイル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23160"/>
            <a:ext cx="11247120" cy="1005840"/>
          </a:xfrm>
          <a:prstGeom prst="rect">
            <a:avLst/>
          </a:prstGeom>
          <a:solidFill>
            <a:srgbClr val="0F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423160"/>
            <a:ext cx="109728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51460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eiryo"/>
              </a:rPr>
              <a:t>fy2029_fte_report.html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92608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EF9"/>
                </a:solidFill>
                <a:latin typeface="Meiryo"/>
              </a:rPr>
              <a:t>品目別 FTE 推移・デジタル有効性スコア一覧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11880"/>
            <a:ext cx="11247120" cy="1005840"/>
          </a:xfrm>
          <a:prstGeom prst="rect">
            <a:avLst/>
          </a:prstGeom>
          <a:solidFill>
            <a:srgbClr val="0F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611880"/>
            <a:ext cx="109728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70332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Meiryo"/>
              </a:rPr>
              <a:t>fte_logic_document.html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11480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EF9"/>
                </a:solidFill>
                <a:latin typeface="Meiryo"/>
              </a:rPr>
              <a:t>本ロジック詳細ドキュメント（HTML 版）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800600"/>
            <a:ext cx="11247120" cy="1005840"/>
          </a:xfrm>
          <a:prstGeom prst="rect">
            <a:avLst/>
          </a:prstGeom>
          <a:solidFill>
            <a:srgbClr val="0F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800600"/>
            <a:ext cx="109728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89204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eiryo"/>
              </a:rPr>
              <a:t>fy2029_sensitivity.html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30352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EF9"/>
                </a:solidFill>
                <a:latin typeface="Meiryo"/>
              </a:rPr>
              <a:t>感度分析（±20% シナリオ・主要品目影響度比較）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